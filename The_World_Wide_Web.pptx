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655665" y="1226046"/>
            <a:ext cx="1832521" cy="584002"/>
          </a:xfrm>
          <a:prstGeom prst="roundRect">
            <a:avLst>
              <a:gd name="adj" fmla="val 43493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84265" y="1441847"/>
            <a:ext cx="14028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84202" y="2013198"/>
            <a:ext cx="2775597" cy="128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60"/>
              </a:lnSpc>
              <a:buNone/>
            </a:pPr>
            <a:r>
              <a:rPr lang="en-US" sz="4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
</a:t>
            </a:r>
            <a:pPr algn="ctr" indent="0" marL="0">
              <a:lnSpc>
                <a:spcPts val="5060"/>
              </a:lnSpc>
              <a:buNone/>
            </a:pPr>
            <a:r>
              <a:rPr lang="en-US" sz="4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Web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975470" y="3501628"/>
            <a:ext cx="319306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&amp; Why It Matters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5092750"/>
            <a:ext cx="9144000" cy="50750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60350" y="381000"/>
            <a:ext cx="813521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Web?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60350" y="803225"/>
            <a:ext cx="634901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0350" y="1107877"/>
            <a:ext cx="8135213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Wide Web</a:t>
            </a:r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system of interlinked hypertext documents accessed via the </a:t>
            </a:r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</a:t>
            </a:r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Invented by </a:t>
            </a:r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 Tim Berners-Lee</a:t>
            </a:r>
            <a:pPr algn="l" indent="0" marL="0">
              <a:lnSpc>
                <a:spcPts val="256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1989 at CERN.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0350" y="1935659"/>
            <a:ext cx="7975699" cy="965002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84163" y="1935659"/>
            <a:ext cx="0" cy="965002"/>
          </a:xfrm>
          <a:prstGeom prst="line">
            <a:avLst/>
          </a:prstGeom>
          <a:noFill/>
          <a:ln w="47625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6575" y="2113359"/>
            <a:ext cx="76202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</a:t>
            </a:r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distributed information system where documents are identified by URLs, interlinked by hyperlinks, and delivered via the HTTP protocol to web browsers.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0350" y="3103811"/>
            <a:ext cx="2523083" cy="1612702"/>
          </a:xfrm>
          <a:prstGeom prst="roundRect">
            <a:avLst>
              <a:gd name="adj" fmla="val 4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051" y="3281511"/>
            <a:ext cx="2211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8051" y="3624411"/>
            <a:ext cx="22110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pages written in HTML that contain text, images, videos, and links to other pages.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6584" y="3103811"/>
            <a:ext cx="2523232" cy="1612702"/>
          </a:xfrm>
          <a:prstGeom prst="roundRect">
            <a:avLst>
              <a:gd name="adj" fmla="val 4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64285" y="3281511"/>
            <a:ext cx="22111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64285" y="3624411"/>
            <a:ext cx="221118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Hyperlinks connect pages across the globe, forming a "web" of information.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12966" y="3103811"/>
            <a:ext cx="2523083" cy="1612702"/>
          </a:xfrm>
          <a:prstGeom prst="roundRect">
            <a:avLst>
              <a:gd name="adj" fmla="val 4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90667" y="3281511"/>
            <a:ext cx="2211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90667" y="3624411"/>
            <a:ext cx="22110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like Chrome and Firefox that fetch and render web pages for users.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60350" y="457200"/>
            <a:ext cx="813521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Web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60350" y="942975"/>
            <a:ext cx="634901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0350" y="1247626"/>
            <a:ext cx="8135213" cy="569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 follows a </a:t>
            </a:r>
            <a:pPr algn="l" indent="0" marL="0">
              <a:lnSpc>
                <a:spcPts val="224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client-server model</a:t>
            </a:r>
            <a:pPr algn="l" indent="0" marL="0">
              <a:lnSpc>
                <a:spcPts val="224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Your browser (client) sends a request to a server, which responds with the webpage content.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0350" y="2045345"/>
            <a:ext cx="1600200" cy="883444"/>
          </a:xfrm>
          <a:prstGeom prst="roundRect">
            <a:avLst>
              <a:gd name="adj" fmla="val 11500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77520" y="2223046"/>
            <a:ext cx="1165860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
</a:t>
            </a:r>
            <a:pPr algn="ctr" indent="0" marL="0">
              <a:lnSpc>
                <a:spcPts val="208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(Client)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77798" y="2263527"/>
            <a:ext cx="285089" cy="446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520"/>
              </a:lnSpc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70773" y="2197596"/>
            <a:ext cx="955003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70773" y="2349847"/>
            <a:ext cx="95500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70773" y="2624138"/>
            <a:ext cx="955003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Response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33512" y="2263527"/>
            <a:ext cx="285089" cy="446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520"/>
              </a:lnSpc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35850" y="2177355"/>
            <a:ext cx="1600200" cy="619423"/>
          </a:xfrm>
          <a:prstGeom prst="roundRect">
            <a:avLst>
              <a:gd name="adj" fmla="val 16402"/>
            </a:avLst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53020" y="2355056"/>
            <a:ext cx="116586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Server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350" y="315738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57535" y="3175099"/>
            <a:ext cx="86529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2101" y="3157389"/>
            <a:ext cx="5215554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Entry: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type a URL or click a link. The browser parses the address.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0350" y="353824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57535" y="3555950"/>
            <a:ext cx="86529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2101" y="3538240"/>
            <a:ext cx="4668146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Lookup: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domain name is resolved to a server IP address.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0350" y="391909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57535" y="3936802"/>
            <a:ext cx="86529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2101" y="3919091"/>
            <a:ext cx="4999384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browser sends an HTTP GET request to the server.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0350" y="429994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7535" y="4317653"/>
            <a:ext cx="86529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92101" y="4299942"/>
            <a:ext cx="703554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&amp; Render: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server returns HTML, CSS, and JavaScript. The browser renders the page.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55550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Web Technologies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776"/>
            <a:ext cx="634901" cy="50750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031677"/>
            <a:ext cx="4038600" cy="1614190"/>
          </a:xfrm>
          <a:prstGeom prst="roundRect">
            <a:avLst>
              <a:gd name="adj" fmla="val 629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2626816"/>
            <a:ext cx="4038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4901" y="1209377"/>
            <a:ext cx="762000" cy="210592"/>
          </a:xfrm>
          <a:prstGeom prst="roundRect">
            <a:avLst>
              <a:gd name="adj" fmla="val 60306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1851" y="1234678"/>
            <a:ext cx="51826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496169"/>
            <a:ext cx="375686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4901" y="1785045"/>
            <a:ext cx="375686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HyperText Markup Language defines the structure and content of web pages using elements and tags.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252365"/>
            <a:ext cx="375686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&lt;h1&gt;Hello World&lt;/h1&gt;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8200" y="1031677"/>
            <a:ext cx="4038600" cy="1614190"/>
          </a:xfrm>
          <a:prstGeom prst="roundRect">
            <a:avLst>
              <a:gd name="adj" fmla="val 629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648200" y="2626816"/>
            <a:ext cx="4038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5901" y="1209377"/>
            <a:ext cx="946249" cy="210592"/>
          </a:xfrm>
          <a:prstGeom prst="roundRect">
            <a:avLst>
              <a:gd name="adj" fmla="val 60306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52851" y="1234678"/>
            <a:ext cx="7061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25901" y="1496169"/>
            <a:ext cx="375686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25901" y="1785045"/>
            <a:ext cx="375686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Cascading Style Sheets control the visual appearance: layout, colors, fonts, and animations.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25901" y="2252365"/>
            <a:ext cx="375686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 color: teal; 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798266"/>
            <a:ext cx="4038600" cy="1614190"/>
          </a:xfrm>
          <a:prstGeom prst="roundRect">
            <a:avLst>
              <a:gd name="adj" fmla="val 629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7200" y="4393406"/>
            <a:ext cx="4038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4901" y="2975967"/>
            <a:ext cx="895499" cy="210592"/>
          </a:xfrm>
          <a:prstGeom prst="roundRect">
            <a:avLst>
              <a:gd name="adj" fmla="val 60306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61851" y="3001268"/>
            <a:ext cx="6544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Interactivity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4901" y="3262759"/>
            <a:ext cx="375686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4901" y="3551634"/>
            <a:ext cx="375686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programming language that enables dynamic behavior, user interaction, and real-time updates.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4901" y="4018955"/>
            <a:ext cx="375686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48200" y="2798266"/>
            <a:ext cx="4038600" cy="1614190"/>
          </a:xfrm>
          <a:prstGeom prst="roundRect">
            <a:avLst>
              <a:gd name="adj" fmla="val 629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48200" y="4393406"/>
            <a:ext cx="403860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5901" y="2975967"/>
            <a:ext cx="717500" cy="210592"/>
          </a:xfrm>
          <a:prstGeom prst="roundRect">
            <a:avLst>
              <a:gd name="adj" fmla="val 60306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952851" y="3001268"/>
            <a:ext cx="47287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25901" y="3262759"/>
            <a:ext cx="375686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/ HTTPS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825901" y="3551634"/>
            <a:ext cx="375686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HyperText Transfer Protocol governs communication between browsers and servers. HTTPS adds encryption.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25901" y="4018955"/>
            <a:ext cx="375686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https://example.com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60350" y="457200"/>
            <a:ext cx="813521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vs Internet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60350" y="942975"/>
            <a:ext cx="634901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0350" y="1247626"/>
            <a:ext cx="8135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used interchangeably, but they are </a:t>
            </a:r>
            <a:pPr algn="l" indent="0" marL="0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same</a:t>
            </a:r>
            <a:pPr algn="l" indent="0" marL="0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0350" y="3767584"/>
            <a:ext cx="3835450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350" y="1609576"/>
            <a:ext cx="3912159" cy="406301"/>
          </a:xfrm>
          <a:prstGeom prst="rect">
            <a:avLst/>
          </a:prstGeom>
          <a:noFill/>
          <a:ln/>
        </p:spPr>
        <p:txBody>
          <a:bodyPr wrap="square" lIns="0" tIns="0" rIns="0" bIns="1016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Internet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0350" y="2142827"/>
            <a:ext cx="3835450" cy="155495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network of interconnected computers</a:t>
            </a:r>
            <a:endParaRPr lang="en-US" sz="1300" dirty="0"/>
          </a:p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infrastructure: cables, routers, servers</a:t>
            </a:r>
            <a:endParaRPr lang="en-US" sz="1300" dirty="0"/>
          </a:p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many services: email, FTP, VoIP, gaming</a:t>
            </a:r>
            <a:endParaRPr lang="en-US" sz="1300" dirty="0"/>
          </a:p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in the 1960s (ARPANET)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00600" y="3767584"/>
            <a:ext cx="3835450" cy="0"/>
          </a:xfrm>
          <a:prstGeom prst="line">
            <a:avLst/>
          </a:prstGeom>
          <a:noFill/>
          <a:ln w="3810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609576"/>
            <a:ext cx="3912159" cy="406301"/>
          </a:xfrm>
          <a:prstGeom prst="rect">
            <a:avLst/>
          </a:prstGeom>
          <a:noFill/>
          <a:ln/>
        </p:spPr>
        <p:txBody>
          <a:bodyPr wrap="square" lIns="0" tIns="0" rIns="0" bIns="1016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World Wide Web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142827"/>
            <a:ext cx="3835450" cy="1274415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system built </a:t>
            </a:r>
            <a:pPr algn="l" indent="0" marL="0">
              <a:lnSpc>
                <a:spcPts val="221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top of</a:t>
            </a:r>
            <a:pPr algn="l" indent="0" marL="0">
              <a:lnSpc>
                <a:spcPts val="221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Internet</a:t>
            </a:r>
            <a:endParaRPr lang="en-US" sz="1300" dirty="0"/>
          </a:p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of web pages and hyperlinks</a:t>
            </a:r>
            <a:endParaRPr lang="en-US" sz="1300" dirty="0"/>
          </a:p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HTTP/HTTPS protocol</a:t>
            </a:r>
            <a:endParaRPr lang="en-US" sz="1300" dirty="0"/>
          </a:p>
          <a:p>
            <a:pPr algn="l" marL="114300" indent="-114300">
              <a:lnSpc>
                <a:spcPts val="221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in 1989 by Tim Berners-Lee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0350" y="4040535"/>
            <a:ext cx="7975699" cy="755452"/>
          </a:xfrm>
          <a:prstGeom prst="roundRect">
            <a:avLst>
              <a:gd name="adj" fmla="val 13449"/>
            </a:avLst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950" y="4218236"/>
            <a:ext cx="76688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Analogy:</a:t>
            </a:r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Internet is like a </a:t>
            </a:r>
            <a:pPr algn="l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system</a:t>
            </a:r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infrastructure). The Web is like the </a:t>
            </a:r>
            <a:pPr algn="l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shops and services</a:t>
            </a:r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visit using those roads.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55550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the Web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776"/>
            <a:ext cx="634901" cy="50750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1006227"/>
            <a:ext cx="2658517" cy="1917502"/>
          </a:xfrm>
          <a:prstGeom prst="roundRect">
            <a:avLst>
              <a:gd name="adj" fmla="val 52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0350" y="91737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1209377"/>
            <a:ext cx="229726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1990 - 2004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0350" y="1412379"/>
            <a:ext cx="22972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1.0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0350" y="1707654"/>
            <a:ext cx="229726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static pages. Users were consumers of content.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0350" y="2149525"/>
            <a:ext cx="2252216" cy="57105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HTML pages</a:t>
            </a:r>
            <a:endParaRPr lang="en-US" sz="1000" dirty="0"/>
          </a:p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user interaction</a:t>
            </a:r>
            <a:endParaRPr lang="en-US" sz="1000" dirty="0"/>
          </a:p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portals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42667" y="1006227"/>
            <a:ext cx="2658666" cy="1917502"/>
          </a:xfrm>
          <a:prstGeom prst="roundRect">
            <a:avLst>
              <a:gd name="adj" fmla="val 52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45818" y="91737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45818" y="1209377"/>
            <a:ext cx="229741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2004 - 2020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45818" y="1412379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2.0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45818" y="1707654"/>
            <a:ext cx="229741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Social, interactive, user-generated content platforms.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45818" y="2149525"/>
            <a:ext cx="2252365" cy="57105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&amp; blogs</a:t>
            </a:r>
            <a:endParaRPr lang="en-US" sz="1000" dirty="0"/>
          </a:p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AJAX &amp; dynamic pages</a:t>
            </a:r>
            <a:endParaRPr lang="en-US" sz="1000" dirty="0"/>
          </a:p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applications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28283" y="1006227"/>
            <a:ext cx="2658517" cy="1917502"/>
          </a:xfrm>
          <a:prstGeom prst="roundRect">
            <a:avLst>
              <a:gd name="adj" fmla="val 52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31434" y="91737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31434" y="1209377"/>
            <a:ext cx="229726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31434" y="1412379"/>
            <a:ext cx="22972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3.0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31434" y="1707654"/>
            <a:ext cx="229726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Decentralized, semantic, AI-powered experiences.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31434" y="2149525"/>
            <a:ext cx="2252216" cy="57105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&amp; tokens</a:t>
            </a:r>
            <a:endParaRPr lang="en-US" sz="1000" dirty="0"/>
          </a:p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data</a:t>
            </a:r>
            <a:endParaRPr lang="en-US" sz="1000" dirty="0"/>
          </a:p>
          <a:p>
            <a:pPr algn="l" marL="88900" indent="-88900">
              <a:lnSpc>
                <a:spcPts val="1500"/>
              </a:lnSpc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interfaces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076129"/>
            <a:ext cx="2658517" cy="666452"/>
          </a:xfrm>
          <a:prstGeom prst="roundRect">
            <a:avLst>
              <a:gd name="adj" fmla="val 114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4146" y="3177629"/>
            <a:ext cx="25046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4146" y="3498205"/>
            <a:ext cx="25046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1.0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42667" y="3076129"/>
            <a:ext cx="2658666" cy="666452"/>
          </a:xfrm>
          <a:prstGeom prst="roundRect">
            <a:avLst>
              <a:gd name="adj" fmla="val 114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319611" y="3177629"/>
            <a:ext cx="25047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Read-Write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19611" y="3498205"/>
            <a:ext cx="25047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2.0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28283" y="3076129"/>
            <a:ext cx="2658517" cy="666452"/>
          </a:xfrm>
          <a:prstGeom prst="roundRect">
            <a:avLst>
              <a:gd name="adj" fmla="val 114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05229" y="3177629"/>
            <a:ext cx="25046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Read-Write-Own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05229" y="3498205"/>
            <a:ext cx="25046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3.0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60350" y="457200"/>
            <a:ext cx="813521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Browsers &amp; Rendering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60350" y="942975"/>
            <a:ext cx="634901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0350" y="1196876"/>
            <a:ext cx="8135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00"/>
              </a:spcBef>
              <a:spcAft>
                <a:spcPts val="8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 browser's rendering engine converts HTML, CSS, and JS into a visual page: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0350" y="1574602"/>
            <a:ext cx="1270099" cy="802481"/>
          </a:xfrm>
          <a:prstGeom prst="roundRect">
            <a:avLst>
              <a:gd name="adj" fmla="val 949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0611" y="1720602"/>
            <a:ext cx="1049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0611" y="1911102"/>
            <a:ext cx="104957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tags into DOM tree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31950" y="1837730"/>
            <a:ext cx="20736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336750" y="1574602"/>
            <a:ext cx="1270099" cy="802481"/>
          </a:xfrm>
          <a:prstGeom prst="roundRect">
            <a:avLst>
              <a:gd name="adj" fmla="val 949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447011" y="1720602"/>
            <a:ext cx="1049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47011" y="1911102"/>
            <a:ext cx="104957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styles into CSSOM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08350" y="1837730"/>
            <a:ext cx="20736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13150" y="1574602"/>
            <a:ext cx="1270099" cy="802481"/>
          </a:xfrm>
          <a:prstGeom prst="roundRect">
            <a:avLst>
              <a:gd name="adj" fmla="val 949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23411" y="1720602"/>
            <a:ext cx="1049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Tree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23411" y="1911102"/>
            <a:ext cx="104957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DOM + CSSOM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84750" y="1837730"/>
            <a:ext cx="20736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89550" y="1654522"/>
            <a:ext cx="1270099" cy="642491"/>
          </a:xfrm>
          <a:prstGeom prst="roundRect">
            <a:avLst>
              <a:gd name="adj" fmla="val 1186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99811" y="1800523"/>
            <a:ext cx="1049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99811" y="1991023"/>
            <a:ext cx="104957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positions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61150" y="1837730"/>
            <a:ext cx="20736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65950" y="1574602"/>
            <a:ext cx="1270099" cy="802481"/>
          </a:xfrm>
          <a:prstGeom prst="roundRect">
            <a:avLst>
              <a:gd name="adj" fmla="val 9496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76211" y="1720602"/>
            <a:ext cx="1049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76211" y="1911102"/>
            <a:ext cx="104957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pixels to screen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0350" y="2554784"/>
            <a:ext cx="2556867" cy="1098203"/>
          </a:xfrm>
          <a:prstGeom prst="roundRect">
            <a:avLst>
              <a:gd name="adj" fmla="val 693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0230" y="2707184"/>
            <a:ext cx="22971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/ Edge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90230" y="2967484"/>
            <a:ext cx="2297109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rendering engine. Built on Chromium. Most widely used browser engine.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69618" y="2554784"/>
            <a:ext cx="2557016" cy="1098203"/>
          </a:xfrm>
          <a:prstGeom prst="roundRect">
            <a:avLst>
              <a:gd name="adj" fmla="val 693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99495" y="2707184"/>
            <a:ext cx="22972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Safari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99495" y="2967484"/>
            <a:ext cx="2297260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WebKit rendering engine. Default on Apple devices. Known for energy efficiency.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79034" y="2554784"/>
            <a:ext cx="2557016" cy="1098203"/>
          </a:xfrm>
          <a:prstGeom prst="roundRect">
            <a:avLst>
              <a:gd name="adj" fmla="val 693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08911" y="2707184"/>
            <a:ext cx="22972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Firefox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08911" y="2967484"/>
            <a:ext cx="229726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Gecko rendering engine. Open-source. Strong focus on privacy and standards.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317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 by the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917525"/>
            <a:ext cx="634901" cy="50750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171426"/>
            <a:ext cx="3937099" cy="2386905"/>
          </a:xfrm>
          <a:prstGeom prst="roundRect">
            <a:avLst>
              <a:gd name="adj" fmla="val 31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71426"/>
            <a:ext cx="3937099" cy="358676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525339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260277"/>
            <a:ext cx="1697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28900" y="1260277"/>
            <a:ext cx="1697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7950" y="1530102"/>
            <a:ext cx="3937099" cy="339626"/>
          </a:xfrm>
          <a:prstGeom prst="rect">
            <a:avLst/>
          </a:prstGeom>
          <a:solidFill>
            <a:srgbClr val="1A23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07950" y="1864965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350" y="1618952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Users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28900" y="1618952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5.5+ Billion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950" y="1869728"/>
            <a:ext cx="3937099" cy="339626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204591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1958578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Websites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28900" y="1958578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 Million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950" y="2209354"/>
            <a:ext cx="3937099" cy="339626"/>
          </a:xfrm>
          <a:prstGeom prst="rect">
            <a:avLst/>
          </a:prstGeom>
          <a:solidFill>
            <a:srgbClr val="1A23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07950" y="2544217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350" y="2298204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Websites Added Daily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28900" y="2298204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~500,000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950" y="2548979"/>
            <a:ext cx="3937099" cy="339626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07950" y="2883843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0350" y="2637830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Google Searches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28900" y="2637830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 Billion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7950" y="2888605"/>
            <a:ext cx="3937099" cy="339626"/>
          </a:xfrm>
          <a:prstGeom prst="rect">
            <a:avLst/>
          </a:prstGeom>
          <a:solidFill>
            <a:srgbClr val="1A23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07950" y="3223468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0350" y="2977455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Web Pages Indexed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628900" y="2977455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Trillion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7950" y="3228231"/>
            <a:ext cx="3937099" cy="330101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60350" y="3317081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Website Launched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628900" y="3317081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1991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98950" y="1171426"/>
            <a:ext cx="3937099" cy="2386905"/>
          </a:xfrm>
          <a:prstGeom prst="roundRect">
            <a:avLst>
              <a:gd name="adj" fmla="val 31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698950" y="1171426"/>
            <a:ext cx="3937099" cy="358676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698950" y="1525339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1350" y="1260277"/>
            <a:ext cx="1697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Share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19900" y="1260277"/>
            <a:ext cx="1697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698950" y="1530102"/>
            <a:ext cx="3937099" cy="339626"/>
          </a:xfrm>
          <a:prstGeom prst="rect">
            <a:avLst/>
          </a:prstGeom>
          <a:solidFill>
            <a:srgbClr val="1A23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98950" y="1864965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1350" y="1618952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Streaming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819900" y="1618952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98950" y="1869728"/>
            <a:ext cx="3937099" cy="339626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698950" y="2204591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1350" y="1958578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Browsing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19900" y="1958578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98950" y="2209354"/>
            <a:ext cx="3937099" cy="339626"/>
          </a:xfrm>
          <a:prstGeom prst="rect">
            <a:avLst/>
          </a:prstGeom>
          <a:solidFill>
            <a:srgbClr val="1A23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4698950" y="2544217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1350" y="2298204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819900" y="2298204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698950" y="2548979"/>
            <a:ext cx="3937099" cy="339626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4698950" y="2883843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1350" y="2637830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819900" y="2637830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98950" y="2888605"/>
            <a:ext cx="3937099" cy="339626"/>
          </a:xfrm>
          <a:prstGeom prst="rect">
            <a:avLst/>
          </a:prstGeom>
          <a:solidFill>
            <a:srgbClr val="1A23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4698950" y="3223468"/>
            <a:ext cx="3937099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1350" y="2977455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819900" y="2977455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698950" y="3228231"/>
            <a:ext cx="3937099" cy="330101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851350" y="3317081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819900" y="3317081"/>
            <a:ext cx="1697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07950" y="3736032"/>
            <a:ext cx="2607766" cy="939701"/>
          </a:xfrm>
          <a:prstGeom prst="roundRect">
            <a:avLst>
              <a:gd name="adj" fmla="val 108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37321" y="3888432"/>
            <a:ext cx="234902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3200" dirty="0"/>
          </a:p>
        </p:txBody>
      </p:sp>
      <p:sp>
        <p:nvSpPr>
          <p:cNvPr id="63" name="Text 61"/>
          <p:cNvSpPr/>
          <p:nvPr/>
        </p:nvSpPr>
        <p:spPr>
          <a:xfrm>
            <a:off x="637321" y="4380458"/>
            <a:ext cx="2349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world population online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268117" y="3736032"/>
            <a:ext cx="2607766" cy="939701"/>
          </a:xfrm>
          <a:prstGeom prst="roundRect">
            <a:avLst>
              <a:gd name="adj" fmla="val 108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3397487" y="3888432"/>
            <a:ext cx="234902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6:40</a:t>
            </a:r>
            <a:endParaRPr lang="en-US" sz="3200" dirty="0"/>
          </a:p>
        </p:txBody>
      </p:sp>
      <p:sp>
        <p:nvSpPr>
          <p:cNvPr id="66" name="Text 64"/>
          <p:cNvSpPr/>
          <p:nvPr/>
        </p:nvSpPr>
        <p:spPr>
          <a:xfrm>
            <a:off x="3397487" y="4380458"/>
            <a:ext cx="2349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Avg. hours online daily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8283" y="3736032"/>
            <a:ext cx="2607766" cy="939701"/>
          </a:xfrm>
          <a:prstGeom prst="roundRect">
            <a:avLst>
              <a:gd name="adj" fmla="val 108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157654" y="3888432"/>
            <a:ext cx="234902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200" dirty="0"/>
          </a:p>
        </p:txBody>
      </p:sp>
      <p:sp>
        <p:nvSpPr>
          <p:cNvPr id="69" name="Text 67"/>
          <p:cNvSpPr/>
          <p:nvPr/>
        </p:nvSpPr>
        <p:spPr>
          <a:xfrm>
            <a:off x="6157654" y="4380458"/>
            <a:ext cx="2349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via mobile devices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355550"/>
            <a:ext cx="834257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the Web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58701" y="777776"/>
            <a:ext cx="634901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58701" y="1006227"/>
            <a:ext cx="2624733" cy="1482179"/>
          </a:xfrm>
          <a:prstGeom prst="roundRect">
            <a:avLst>
              <a:gd name="adj" fmla="val 51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58701" y="1025277"/>
            <a:ext cx="2624733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651" y="1171277"/>
            <a:ext cx="241824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651" y="1577578"/>
            <a:ext cx="24182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WebAssembly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651" y="1828354"/>
            <a:ext cx="2418249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C++/Rust in the browser at near-native speed for games, video editing, and more.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35834" y="1006227"/>
            <a:ext cx="2624733" cy="1482179"/>
          </a:xfrm>
          <a:prstGeom prst="roundRect">
            <a:avLst>
              <a:gd name="adj" fmla="val 51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35834" y="1025277"/>
            <a:ext cx="2624733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2784" y="1171277"/>
            <a:ext cx="241824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62784" y="1577578"/>
            <a:ext cx="24182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Web Apps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62784" y="1828354"/>
            <a:ext cx="241824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apps that work offline, send push notifications, and feel like native apps.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12966" y="1006227"/>
            <a:ext cx="2624733" cy="1482179"/>
          </a:xfrm>
          <a:prstGeom prst="roundRect">
            <a:avLst>
              <a:gd name="adj" fmla="val 51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12966" y="1025277"/>
            <a:ext cx="2624733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39917" y="1171277"/>
            <a:ext cx="241824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39917" y="1577578"/>
            <a:ext cx="24182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Integration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9917" y="1828354"/>
            <a:ext cx="241824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search, content generation, and personalized browser experiences.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8701" y="2640806"/>
            <a:ext cx="2624733" cy="1304479"/>
          </a:xfrm>
          <a:prstGeom prst="roundRect">
            <a:avLst>
              <a:gd name="adj" fmla="val 58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58701" y="2659856"/>
            <a:ext cx="2624733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651" y="2805857"/>
            <a:ext cx="241824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5651" y="3212157"/>
            <a:ext cx="24182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/ VR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651" y="3462933"/>
            <a:ext cx="241824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Immersive 3D experiences on the web via WebXR for virtual tours and education.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35834" y="2640806"/>
            <a:ext cx="2624733" cy="1304479"/>
          </a:xfrm>
          <a:prstGeom prst="roundRect">
            <a:avLst>
              <a:gd name="adj" fmla="val 58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335834" y="2659856"/>
            <a:ext cx="2624733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62784" y="2805857"/>
            <a:ext cx="241824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462784" y="3212157"/>
            <a:ext cx="24182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&amp; Security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62784" y="3462933"/>
            <a:ext cx="241824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Enhanced encryption and user-centric data control models.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12966" y="2640806"/>
            <a:ext cx="2624733" cy="1304479"/>
          </a:xfrm>
          <a:prstGeom prst="roundRect">
            <a:avLst>
              <a:gd name="adj" fmla="val 58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112966" y="2659856"/>
            <a:ext cx="2624733" cy="0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9917" y="2805857"/>
            <a:ext cx="241824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Aft>
                <a:spcPts val="400"/>
              </a:spcAft>
              <a:buNone/>
            </a:pPr>
            <a:r>
              <a:rPr lang="en-US" sz="2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239917" y="3212157"/>
            <a:ext cx="24182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39917" y="3462933"/>
            <a:ext cx="241824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 data closer to users via CDNs for faster, lower-latency experiences.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271643" y="762298"/>
            <a:ext cx="2600566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0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</a:t>
            </a:r>
            <a:pPr algn="ctr" indent="0" marL="0">
              <a:spcAft>
                <a:spcPts val="1200"/>
              </a:spcAft>
              <a:buNone/>
            </a:pPr>
            <a:r>
              <a:rPr lang="en-US" sz="40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225923" y="1546473"/>
            <a:ext cx="6692006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Wide Web</a:t>
            </a:r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connects billions of people through </a:t>
            </a:r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interlinked information</a:t>
            </a:r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25923" y="1881783"/>
            <a:ext cx="6692006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static pages to immersive AI-powered experiences, the web's evolution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25923" y="2217093"/>
            <a:ext cx="6692006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to reshape how we </a:t>
            </a:r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learn, work, and connect</a:t>
            </a:r>
            <a:pPr algn="ctr" indent="0" marL="0">
              <a:lnSpc>
                <a:spcPts val="224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15355" y="4057204"/>
            <a:ext cx="33132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8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the future of the web together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5092750"/>
            <a:ext cx="9144000" cy="50750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World Wide Web</dc:title>
  <dc:subject>PptxGenJS Presentation</dc:subject>
  <dc:creator>OpenCode</dc:creator>
  <cp:lastModifiedBy>OpenCode</cp:lastModifiedBy>
  <cp:revision>1</cp:revision>
  <dcterms:created xsi:type="dcterms:W3CDTF">2026-05-20T12:54:22Z</dcterms:created>
  <dcterms:modified xsi:type="dcterms:W3CDTF">2026-05-20T12:54:22Z</dcterms:modified>
</cp:coreProperties>
</file>